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phie Oster" initials="SO" lastIdx="3" clrIdx="0">
    <p:extLst>
      <p:ext uri="{19B8F6BF-5375-455C-9EA6-DF929625EA0E}">
        <p15:presenceInfo xmlns:p15="http://schemas.microsoft.com/office/powerpoint/2012/main" userId="f00830fbf1ec50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26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3T11:40:37.822" idx="1">
    <p:pos x="4525" y="1453"/>
    <p:text>noch anpassen an 60 tiles!</p:text>
    <p:extLst>
      <p:ext uri="{C676402C-5697-4E1C-873F-D02D1690AC5C}">
        <p15:threadingInfo xmlns:p15="http://schemas.microsoft.com/office/powerpoint/2012/main" timeZoneBias="-60"/>
      </p:ext>
    </p:extLst>
  </p:cm>
  <p:cm authorId="1" dt="2023-02-03T11:41:01.719" idx="2">
    <p:pos x="5119" y="2977"/>
    <p:text>noch überlegen: wird schneckenhaus abgemacht für FA analysis, wegen Länge?</p:text>
    <p:extLst>
      <p:ext uri="{C676402C-5697-4E1C-873F-D02D1690AC5C}">
        <p15:threadingInfo xmlns:p15="http://schemas.microsoft.com/office/powerpoint/2012/main" timeZoneBias="-60"/>
      </p:ext>
    </p:extLst>
  </p:cm>
  <p:cm authorId="1" dt="2023-02-03T11:47:51.658" idx="3">
    <p:pos x="5119" y="3113"/>
    <p:text>bei Marco wurden jeweils drei Organismen aus demselben Treatment gepoolt und gecrushed, also mit schneckenhaus.</p:text>
    <p:extLst>
      <p:ext uri="{C676402C-5697-4E1C-873F-D02D1690AC5C}">
        <p15:threadingInfo xmlns:p15="http://schemas.microsoft.com/office/powerpoint/2012/main" timeZoneBias="-60">
          <p15:parentCm authorId="1" idx="2"/>
        </p15:threadingInfo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9EBD17-32EE-4AD0-8557-FB1F60CCA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50E02C-B772-4300-85C3-78B3A2F80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90AD45-E5E9-49EA-87DF-2EA5171F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A7E2FB-0990-4505-8485-C730DA13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8651AE-6AD9-41FB-AA85-ED40EF91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23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CF831-5CB3-4997-9228-59D9CA7D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0BEAB4-A75A-4164-A5EC-207232436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CDFBA4-7BC5-4C6F-8057-46265E9D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F6C399-D4A0-47A8-904A-BE7D4D4B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CCEAC9-9020-42A7-8FB6-1C7E6404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41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2B9D7E-C98A-41D6-8693-B2CFF9F0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218DB7-4EDC-432D-B05D-B9D74E261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8DEE43-0FF3-41DA-BDE6-68284119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B1F73-D6FA-422B-98D8-550E93BE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8CEF38-54F2-42F5-B735-C82127B1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122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7A5B6-43B4-46A8-BDBB-1F7FA3F30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1931B2-4247-4871-A7AA-1C3072BFB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D4B6F4-E89D-4072-A46E-A9C59A801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F90E31-19C0-4054-84D0-30C53B5F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180FEA-8850-4010-B505-DB0FF9B7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C1E5C5-AB2F-43D3-AD2C-695A0839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616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E15FB5-4111-48B3-A320-9CA3A8FC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4DCFC9-7AD1-4048-8CE8-1AC7E671F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5D009C-7E4D-4654-B1DA-38F0F5771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C16D01-4883-4B33-8E2F-AB3225A8E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19092F6-2F49-4670-BDED-03CC75418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35716C2-66E8-4A32-B3D4-EECC11CB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06233C-20B4-429B-95E2-02F1FC0C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369DEBB-11BA-4E58-AE61-EB4C9B61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75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8AE78-FA83-4712-B2BD-D9C42345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AA959D2-31C0-40FB-B173-4C2DECEE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7B7847-18A3-4F4C-9F1E-37CB45BA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B21551-E5FC-4E87-BE9D-46D028D0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182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A30574-BE28-432F-9325-5BFCDCDF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834CC2C-BAF7-46E1-8EAE-9193B52E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B4439E-42DA-4AD8-A438-9D647A46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42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879004-BD1E-4A86-89AE-7DCB77861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D931CC-2EDF-4A52-A35B-05D68C244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824170-9652-4BF1-BE29-5D8B8C6E6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2E1A27-C409-4ECD-B194-FACFDBF4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9F0039-174C-46BE-A46A-6AFF1252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AFBB81-1403-41D9-AADD-41C05FC1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6899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E99BE-5051-4440-9F26-BFCB26733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874800-C615-424C-9154-496FD93A5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8A0953-FE6F-469A-8DDB-18CC3DD72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1115AE-720F-4E3F-A63F-22B7E9BC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D2BE38-B7A8-4B94-9281-43B383DC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C52E4-9C4F-4E96-BA8B-948968A8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381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EB0D5-A760-46C3-8316-5E1A98D0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F10B8AE-FCC1-49F0-9C37-DF625CC41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EDBA21-13E0-4B78-8EB2-8935001D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2A041E-B194-4F75-B445-54308AD7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7C8161-CBC2-476E-BE6E-18F5C02D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542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A1FA6F8-35D6-4638-A554-20DC182E9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B98E19-3AF1-4A73-A008-792D53D88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085808-5E05-4B16-A2FA-448BF6F56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33A5A1-930D-4B7B-8F56-16C447FB9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672C54-626D-49C0-9BEC-0E21B6B7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2127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0D60846-D455-4FA7-86FE-84B758C0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77C784-5386-444D-8EDD-696FC8801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5C180F-4675-416C-B92A-595594BD2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F73B7-AFC6-4CD9-B09E-B803B36C2650}" type="datetimeFigureOut">
              <a:rPr lang="de-DE" smtClean="0"/>
              <a:t>28.03.2023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D56D05-628C-4D9F-939A-730186330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492658-9FE0-4786-B6BD-DBF1899D2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3D369-3043-4007-A687-CA2BEEF22C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8350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E039AF-AF4B-49C7-B17A-FCDE5D380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64" y="1713265"/>
            <a:ext cx="7707485" cy="98723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de-DE" sz="11200" b="1" u="sng" dirty="0"/>
              <a:t>4 Treatments (NC, Pro, </a:t>
            </a:r>
            <a:r>
              <a:rPr lang="de-DE" sz="11200" b="1" u="sng" dirty="0" err="1"/>
              <a:t>Cip</a:t>
            </a:r>
            <a:r>
              <a:rPr lang="de-DE" sz="11200" b="1" u="sng" dirty="0"/>
              <a:t> + </a:t>
            </a:r>
            <a:r>
              <a:rPr lang="de-DE" sz="11200" b="1" u="sng" dirty="0" err="1"/>
              <a:t>Mixture</a:t>
            </a:r>
            <a:r>
              <a:rPr lang="de-DE" sz="11200" b="1" u="sng" dirty="0"/>
              <a:t>) </a:t>
            </a:r>
          </a:p>
          <a:p>
            <a:endParaRPr lang="de-DE" dirty="0"/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e-DE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C4496FE-484B-4665-A13A-288891878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10" y="259325"/>
            <a:ext cx="10515600" cy="1325563"/>
          </a:xfrm>
        </p:spPr>
        <p:txBody>
          <a:bodyPr/>
          <a:lstStyle/>
          <a:p>
            <a:r>
              <a:rPr lang="de-DE" dirty="0"/>
              <a:t>1) </a:t>
            </a:r>
            <a:r>
              <a:rPr lang="de-DE" dirty="0" err="1"/>
              <a:t>Fatty</a:t>
            </a:r>
            <a:r>
              <a:rPr lang="de-DE" dirty="0"/>
              <a:t> </a:t>
            </a:r>
            <a:r>
              <a:rPr lang="de-DE" dirty="0" err="1"/>
              <a:t>acids</a:t>
            </a:r>
            <a:r>
              <a:rPr lang="de-DE" dirty="0"/>
              <a:t> + </a:t>
            </a:r>
            <a:r>
              <a:rPr lang="de-DE" dirty="0" err="1"/>
              <a:t>feeding</a:t>
            </a:r>
            <a:r>
              <a:rPr lang="de-DE" dirty="0"/>
              <a:t> rate?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5EA163D-D9FF-4CDF-8DF1-88AB2B7EDF6A}"/>
              </a:ext>
            </a:extLst>
          </p:cNvPr>
          <p:cNvSpPr txBox="1"/>
          <p:nvPr/>
        </p:nvSpPr>
        <p:spPr>
          <a:xfrm>
            <a:off x="8918233" y="259325"/>
            <a:ext cx="1863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beaker</a:t>
            </a:r>
            <a:r>
              <a:rPr lang="de-DE" dirty="0"/>
              <a:t>? </a:t>
            </a:r>
            <a:r>
              <a:rPr lang="de-DE" dirty="0">
                <a:solidFill>
                  <a:srgbClr val="FF0000"/>
                </a:solidFill>
              </a:rPr>
              <a:t>120 </a:t>
            </a:r>
            <a:r>
              <a:rPr lang="de-DE" dirty="0" err="1">
                <a:solidFill>
                  <a:srgbClr val="FF0000"/>
                </a:solidFill>
              </a:rPr>
              <a:t>of</a:t>
            </a:r>
            <a:r>
              <a:rPr lang="de-DE" dirty="0">
                <a:solidFill>
                  <a:srgbClr val="FF0000"/>
                </a:solidFill>
              </a:rPr>
              <a:t>…..?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6FE25A2-5D45-4E17-99D2-BF0EAB3A9CE1}"/>
              </a:ext>
            </a:extLst>
          </p:cNvPr>
          <p:cNvSpPr txBox="1"/>
          <p:nvPr/>
        </p:nvSpPr>
        <p:spPr>
          <a:xfrm>
            <a:off x="514710" y="2224222"/>
            <a:ext cx="9962009" cy="22467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800" dirty="0"/>
              <a:t>30 </a:t>
            </a:r>
            <a:r>
              <a:rPr lang="de-DE" sz="2800" dirty="0" err="1"/>
              <a:t>replicates</a:t>
            </a:r>
            <a:r>
              <a:rPr lang="de-DE" sz="2800" dirty="0"/>
              <a:t> per </a:t>
            </a:r>
            <a:r>
              <a:rPr lang="de-DE" sz="2800" dirty="0" err="1"/>
              <a:t>treatment</a:t>
            </a:r>
            <a:r>
              <a:rPr lang="de-DE" sz="2800" dirty="0"/>
              <a:t> </a:t>
            </a:r>
          </a:p>
          <a:p>
            <a:r>
              <a:rPr lang="de-DE" sz="2800" dirty="0"/>
              <a:t>= 4 </a:t>
            </a:r>
            <a:r>
              <a:rPr lang="de-DE" sz="2800" dirty="0" err="1"/>
              <a:t>treatments</a:t>
            </a:r>
            <a:r>
              <a:rPr lang="de-DE" sz="2800" dirty="0"/>
              <a:t>*30 </a:t>
            </a:r>
            <a:r>
              <a:rPr lang="de-DE" sz="2800" dirty="0" err="1"/>
              <a:t>organisms</a:t>
            </a:r>
            <a:r>
              <a:rPr lang="de-DE" sz="2800" dirty="0"/>
              <a:t> </a:t>
            </a:r>
          </a:p>
          <a:p>
            <a:pPr marL="0" indent="0">
              <a:buNone/>
            </a:pPr>
            <a:r>
              <a:rPr lang="de-DE" sz="2800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de-DE" sz="2800" dirty="0">
                <a:solidFill>
                  <a:srgbClr val="00B050"/>
                </a:solidFill>
              </a:rPr>
              <a:t> 120 </a:t>
            </a:r>
            <a:r>
              <a:rPr lang="de-DE" sz="2800" dirty="0" err="1">
                <a:solidFill>
                  <a:srgbClr val="00B050"/>
                </a:solidFill>
              </a:rPr>
              <a:t>organisms</a:t>
            </a:r>
            <a:r>
              <a:rPr lang="de-DE" sz="2800" dirty="0">
                <a:solidFill>
                  <a:srgbClr val="00B050"/>
                </a:solidFill>
              </a:rPr>
              <a:t> </a:t>
            </a:r>
          </a:p>
          <a:p>
            <a:pPr marL="0" indent="0">
              <a:buNone/>
            </a:pPr>
            <a:r>
              <a:rPr lang="de-DE" sz="2800" dirty="0"/>
              <a:t>1 </a:t>
            </a:r>
            <a:r>
              <a:rPr lang="de-DE" sz="2800" dirty="0" err="1"/>
              <a:t>tiles</a:t>
            </a:r>
            <a:r>
              <a:rPr lang="de-DE" sz="2800" dirty="0"/>
              <a:t> per </a:t>
            </a:r>
            <a:r>
              <a:rPr lang="de-DE" sz="2800" dirty="0" err="1"/>
              <a:t>replicate</a:t>
            </a:r>
            <a:r>
              <a:rPr lang="de-DE" sz="2800" dirty="0"/>
              <a:t> (1 </a:t>
            </a:r>
            <a:r>
              <a:rPr lang="de-DE" sz="2800" dirty="0" err="1"/>
              <a:t>tile</a:t>
            </a:r>
            <a:r>
              <a:rPr lang="de-DE" sz="2800" dirty="0"/>
              <a:t>*30 </a:t>
            </a:r>
            <a:r>
              <a:rPr lang="de-DE" sz="2800" dirty="0" err="1"/>
              <a:t>replicates</a:t>
            </a:r>
            <a:r>
              <a:rPr lang="de-DE" sz="2800" dirty="0"/>
              <a:t>=30 </a:t>
            </a:r>
            <a:r>
              <a:rPr lang="de-DE" sz="2800" dirty="0" err="1"/>
              <a:t>tiles</a:t>
            </a:r>
            <a:r>
              <a:rPr lang="de-DE" sz="2800" dirty="0"/>
              <a:t>)</a:t>
            </a:r>
          </a:p>
          <a:p>
            <a:pPr marL="0" indent="0">
              <a:buNone/>
            </a:pPr>
            <a:r>
              <a:rPr lang="de-DE" sz="2800" dirty="0">
                <a:solidFill>
                  <a:srgbClr val="00B0F0"/>
                </a:solidFill>
                <a:sym typeface="Wingdings" panose="05000000000000000000" pitchFamily="2" charset="2"/>
              </a:rPr>
              <a:t> 30 </a:t>
            </a:r>
            <a:r>
              <a:rPr lang="de-DE" sz="2800" dirty="0" err="1">
                <a:solidFill>
                  <a:srgbClr val="00B0F0"/>
                </a:solidFill>
                <a:sym typeface="Wingdings" panose="05000000000000000000" pitchFamily="2" charset="2"/>
              </a:rPr>
              <a:t>tiles</a:t>
            </a:r>
            <a:r>
              <a:rPr lang="de-DE" sz="2800" dirty="0">
                <a:solidFill>
                  <a:srgbClr val="00B0F0"/>
                </a:solidFill>
                <a:sym typeface="Wingdings" panose="05000000000000000000" pitchFamily="2" charset="2"/>
              </a:rPr>
              <a:t> per </a:t>
            </a:r>
            <a:r>
              <a:rPr lang="de-DE" sz="2800" dirty="0" err="1">
                <a:solidFill>
                  <a:srgbClr val="00B0F0"/>
                </a:solidFill>
                <a:sym typeface="Wingdings" panose="05000000000000000000" pitchFamily="2" charset="2"/>
              </a:rPr>
              <a:t>treatment</a:t>
            </a:r>
            <a:endParaRPr lang="de-DE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82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83296F-7CEB-448B-A8B9-D37BAAC2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5203"/>
            <a:ext cx="10515600" cy="1325563"/>
          </a:xfrm>
        </p:spPr>
        <p:txBody>
          <a:bodyPr/>
          <a:lstStyle/>
          <a:p>
            <a:r>
              <a:rPr lang="de-DE" dirty="0"/>
              <a:t>2) </a:t>
            </a:r>
            <a:r>
              <a:rPr lang="de-DE" dirty="0" err="1"/>
              <a:t>Waterborne</a:t>
            </a:r>
            <a:r>
              <a:rPr lang="de-DE" dirty="0"/>
              <a:t> </a:t>
            </a:r>
            <a:r>
              <a:rPr lang="de-DE" dirty="0" err="1"/>
              <a:t>effects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0D9F2F-9EA8-4665-BE92-505E66F04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035"/>
            <a:ext cx="10515600" cy="4351338"/>
          </a:xfrm>
        </p:spPr>
        <p:txBody>
          <a:bodyPr/>
          <a:lstStyle/>
          <a:p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waterborne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effects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by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chemicals</a:t>
            </a:r>
            <a:r>
              <a:rPr lang="de-DE" dirty="0">
                <a:sym typeface="Wingdings" panose="05000000000000000000" pitchFamily="2" charset="2"/>
              </a:rPr>
              <a:t> on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survival</a:t>
            </a:r>
            <a:r>
              <a:rPr lang="de-DE" dirty="0">
                <a:sym typeface="Wingdings" panose="05000000000000000000" pitchFamily="2" charset="2"/>
              </a:rPr>
              <a:t> and </a:t>
            </a:r>
            <a:r>
              <a:rPr lang="de-DE" dirty="0" err="1">
                <a:sym typeface="Wingdings" panose="05000000000000000000" pitchFamily="2" charset="2"/>
              </a:rPr>
              <a:t>feeding</a:t>
            </a:r>
            <a:r>
              <a:rPr lang="de-DE" dirty="0">
                <a:sym typeface="Wingdings" panose="05000000000000000000" pitchFamily="2" charset="2"/>
              </a:rPr>
              <a:t> rate,  </a:t>
            </a:r>
            <a:r>
              <a:rPr lang="de-DE" dirty="0" err="1">
                <a:sym typeface="Wingdings" panose="05000000000000000000" pitchFamily="2" charset="2"/>
              </a:rPr>
              <a:t>leaching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from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biofilm</a:t>
            </a:r>
            <a:r>
              <a:rPr lang="de-DE" dirty="0">
                <a:sym typeface="Wingdings" panose="05000000000000000000" pitchFamily="2" charset="2"/>
              </a:rPr>
              <a:t>? </a:t>
            </a:r>
          </a:p>
          <a:p>
            <a:pPr marL="514350" indent="-514350">
              <a:buAutoNum type="arabicParenR"/>
            </a:pPr>
            <a:r>
              <a:rPr lang="de-DE" dirty="0" err="1">
                <a:sym typeface="Wingdings" panose="05000000000000000000" pitchFamily="2" charset="2"/>
              </a:rPr>
              <a:t>Spiked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biofilm</a:t>
            </a:r>
            <a:r>
              <a:rPr lang="de-DE" dirty="0">
                <a:sym typeface="Wingdings" panose="05000000000000000000" pitchFamily="2" charset="2"/>
              </a:rPr>
              <a:t> + non-</a:t>
            </a:r>
            <a:r>
              <a:rPr lang="de-DE" dirty="0" err="1">
                <a:sym typeface="Wingdings" panose="05000000000000000000" pitchFamily="2" charset="2"/>
              </a:rPr>
              <a:t>spiked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media</a:t>
            </a:r>
            <a:endParaRPr lang="de-DE" dirty="0">
              <a:sym typeface="Wingdings" panose="05000000000000000000" pitchFamily="2" charset="2"/>
            </a:endParaRPr>
          </a:p>
          <a:p>
            <a:pPr marL="514350" indent="-514350">
              <a:buAutoNum type="arabicParenR"/>
            </a:pPr>
            <a:r>
              <a:rPr lang="de-DE" dirty="0">
                <a:sym typeface="Wingdings" panose="05000000000000000000" pitchFamily="2" charset="2"/>
              </a:rPr>
              <a:t>Non-</a:t>
            </a:r>
            <a:r>
              <a:rPr lang="de-DE" dirty="0" err="1">
                <a:sym typeface="Wingdings" panose="05000000000000000000" pitchFamily="2" charset="2"/>
              </a:rPr>
              <a:t>spiked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biofilm</a:t>
            </a:r>
            <a:r>
              <a:rPr lang="de-DE" dirty="0">
                <a:sym typeface="Wingdings" panose="05000000000000000000" pitchFamily="2" charset="2"/>
              </a:rPr>
              <a:t> + non-</a:t>
            </a:r>
            <a:r>
              <a:rPr lang="de-DE" dirty="0" err="1">
                <a:sym typeface="Wingdings" panose="05000000000000000000" pitchFamily="2" charset="2"/>
              </a:rPr>
              <a:t>spiked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media</a:t>
            </a: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Geschweifte Klammer rechts 3">
            <a:extLst>
              <a:ext uri="{FF2B5EF4-FFF2-40B4-BE49-F238E27FC236}">
                <a16:creationId xmlns:a16="http://schemas.microsoft.com/office/drawing/2014/main" id="{F2E659C3-8E86-4389-8764-FA62F61F89BD}"/>
              </a:ext>
            </a:extLst>
          </p:cNvPr>
          <p:cNvSpPr/>
          <p:nvPr/>
        </p:nvSpPr>
        <p:spPr>
          <a:xfrm>
            <a:off x="7263442" y="2044532"/>
            <a:ext cx="336430" cy="104379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CA44FC9-9C2F-4CBC-A425-00059B0FAD75}"/>
              </a:ext>
            </a:extLst>
          </p:cNvPr>
          <p:cNvSpPr txBox="1"/>
          <p:nvPr/>
        </p:nvSpPr>
        <p:spPr>
          <a:xfrm>
            <a:off x="7712014" y="2182184"/>
            <a:ext cx="2708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Both </a:t>
            </a:r>
            <a:r>
              <a:rPr lang="de-DE" dirty="0" err="1"/>
              <a:t>treatments</a:t>
            </a:r>
            <a:r>
              <a:rPr lang="de-DE" dirty="0"/>
              <a:t> </a:t>
            </a:r>
            <a:r>
              <a:rPr lang="de-DE" dirty="0" err="1"/>
              <a:t>involved</a:t>
            </a:r>
            <a:r>
              <a:rPr lang="de-DE" dirty="0"/>
              <a:t> in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already</a:t>
            </a:r>
            <a:endParaRPr lang="de-DE" dirty="0"/>
          </a:p>
        </p:txBody>
      </p:sp>
      <p:sp>
        <p:nvSpPr>
          <p:cNvPr id="6" name="Geschweifte Klammer rechts 5">
            <a:extLst>
              <a:ext uri="{FF2B5EF4-FFF2-40B4-BE49-F238E27FC236}">
                <a16:creationId xmlns:a16="http://schemas.microsoft.com/office/drawing/2014/main" id="{8A555718-42C1-4488-80FF-E9E541DD55FE}"/>
              </a:ext>
            </a:extLst>
          </p:cNvPr>
          <p:cNvSpPr/>
          <p:nvPr/>
        </p:nvSpPr>
        <p:spPr>
          <a:xfrm rot="5400000">
            <a:off x="4281956" y="139195"/>
            <a:ext cx="429883" cy="702584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0807284-1958-470E-BA94-8C0A6F433570}"/>
              </a:ext>
            </a:extLst>
          </p:cNvPr>
          <p:cNvSpPr txBox="1"/>
          <p:nvPr/>
        </p:nvSpPr>
        <p:spPr>
          <a:xfrm>
            <a:off x="3134391" y="4215909"/>
            <a:ext cx="41838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 </a:t>
            </a:r>
            <a:r>
              <a:rPr lang="de-DE" dirty="0" err="1"/>
              <a:t>replicates</a:t>
            </a:r>
            <a:r>
              <a:rPr lang="de-DE" dirty="0"/>
              <a:t> per </a:t>
            </a:r>
            <a:r>
              <a:rPr lang="de-DE" dirty="0" err="1"/>
              <a:t>treatment</a:t>
            </a:r>
            <a:r>
              <a:rPr lang="de-DE" dirty="0"/>
              <a:t> </a:t>
            </a:r>
          </a:p>
          <a:p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B050"/>
                </a:solidFill>
                <a:sym typeface="Wingdings" panose="05000000000000000000" pitchFamily="2" charset="2"/>
              </a:rPr>
              <a:t>3 </a:t>
            </a:r>
            <a:r>
              <a:rPr lang="de-DE" dirty="0" err="1">
                <a:solidFill>
                  <a:srgbClr val="00B050"/>
                </a:solidFill>
                <a:sym typeface="Wingdings" panose="05000000000000000000" pitchFamily="2" charset="2"/>
              </a:rPr>
              <a:t>treatments</a:t>
            </a:r>
            <a:r>
              <a:rPr lang="de-DE" dirty="0">
                <a:solidFill>
                  <a:srgbClr val="00B050"/>
                </a:solidFill>
                <a:sym typeface="Wingdings" panose="05000000000000000000" pitchFamily="2" charset="2"/>
              </a:rPr>
              <a:t>*4 </a:t>
            </a:r>
            <a:r>
              <a:rPr lang="de-DE" dirty="0" err="1">
                <a:solidFill>
                  <a:srgbClr val="00B050"/>
                </a:solidFill>
                <a:sym typeface="Wingdings" panose="05000000000000000000" pitchFamily="2" charset="2"/>
              </a:rPr>
              <a:t>organisms</a:t>
            </a:r>
            <a:r>
              <a:rPr lang="de-DE" dirty="0">
                <a:solidFill>
                  <a:srgbClr val="00B050"/>
                </a:solidFill>
                <a:sym typeface="Wingdings" panose="05000000000000000000" pitchFamily="2" charset="2"/>
              </a:rPr>
              <a:t> = 12 </a:t>
            </a:r>
            <a:r>
              <a:rPr lang="de-DE" dirty="0" err="1">
                <a:solidFill>
                  <a:srgbClr val="00B050"/>
                </a:solidFill>
                <a:sym typeface="Wingdings" panose="05000000000000000000" pitchFamily="2" charset="2"/>
              </a:rPr>
              <a:t>organisms</a:t>
            </a:r>
            <a:endParaRPr lang="de-DE" dirty="0">
              <a:solidFill>
                <a:srgbClr val="00B050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1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for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food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control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tiles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and 1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treatment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tile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behind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„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fence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“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de-DE" dirty="0">
              <a:solidFill>
                <a:srgbClr val="00B0F0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b="1" dirty="0">
                <a:solidFill>
                  <a:srgbClr val="00B0F0"/>
                </a:solidFill>
                <a:sym typeface="Wingdings" panose="05000000000000000000" pitchFamily="2" charset="2"/>
              </a:rPr>
              <a:t> 12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NC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tiles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and 4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respective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treatment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tiles</a:t>
            </a:r>
            <a:endParaRPr lang="de-DE" b="1" dirty="0">
              <a:solidFill>
                <a:srgbClr val="00B0F0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4E6FD9F-9CAE-43D7-88C1-4A5CE292C346}"/>
              </a:ext>
            </a:extLst>
          </p:cNvPr>
          <p:cNvSpPr txBox="1"/>
          <p:nvPr/>
        </p:nvSpPr>
        <p:spPr>
          <a:xfrm>
            <a:off x="8980099" y="204412"/>
            <a:ext cx="2536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beaker</a:t>
            </a:r>
            <a:r>
              <a:rPr lang="de-DE" dirty="0"/>
              <a:t>? </a:t>
            </a:r>
            <a:r>
              <a:rPr lang="de-DE" dirty="0">
                <a:solidFill>
                  <a:srgbClr val="FF0000"/>
                </a:solidFill>
              </a:rPr>
              <a:t>12 x ….?</a:t>
            </a:r>
          </a:p>
        </p:txBody>
      </p:sp>
    </p:spTree>
    <p:extLst>
      <p:ext uri="{BB962C8B-B14F-4D97-AF65-F5344CB8AC3E}">
        <p14:creationId xmlns:p14="http://schemas.microsoft.com/office/powerpoint/2010/main" val="38231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D525F-3822-4609-81E6-CE5EF598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89" y="321992"/>
            <a:ext cx="10515600" cy="1325563"/>
          </a:xfrm>
        </p:spPr>
        <p:txBody>
          <a:bodyPr/>
          <a:lstStyle/>
          <a:p>
            <a:r>
              <a:rPr lang="de-DE" dirty="0"/>
              <a:t>Biofilm </a:t>
            </a:r>
            <a:r>
              <a:rPr lang="de-DE" dirty="0" err="1"/>
              <a:t>endpoints</a:t>
            </a:r>
            <a:r>
              <a:rPr lang="de-DE" dirty="0"/>
              <a:t> after 14 </a:t>
            </a:r>
            <a:r>
              <a:rPr lang="de-DE" dirty="0" err="1"/>
              <a:t>days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chemical</a:t>
            </a:r>
            <a:r>
              <a:rPr lang="de-DE" dirty="0"/>
              <a:t> </a:t>
            </a:r>
            <a:r>
              <a:rPr lang="de-DE" dirty="0" err="1"/>
              <a:t>exposure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109AC9-EBED-457B-A087-9DF51C08A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de-DE" sz="3800" dirty="0" err="1"/>
              <a:t>Metabarcoding</a:t>
            </a:r>
            <a:r>
              <a:rPr lang="de-DE" sz="3800" dirty="0"/>
              <a:t> </a:t>
            </a:r>
            <a:r>
              <a:rPr lang="de-DE" sz="3800" dirty="0">
                <a:solidFill>
                  <a:srgbClr val="00B0F0"/>
                </a:solidFill>
              </a:rPr>
              <a:t>2 </a:t>
            </a:r>
            <a:r>
              <a:rPr lang="de-DE" sz="3800" dirty="0" err="1">
                <a:solidFill>
                  <a:srgbClr val="00B0F0"/>
                </a:solidFill>
              </a:rPr>
              <a:t>tiles</a:t>
            </a:r>
            <a:r>
              <a:rPr lang="de-DE" sz="3800" dirty="0">
                <a:solidFill>
                  <a:srgbClr val="00B0F0"/>
                </a:solidFill>
              </a:rPr>
              <a:t> </a:t>
            </a:r>
            <a:r>
              <a:rPr lang="de-DE" sz="3800" dirty="0"/>
              <a:t> </a:t>
            </a:r>
          </a:p>
          <a:p>
            <a:r>
              <a:rPr lang="de-DE" sz="3800" dirty="0"/>
              <a:t>AFDW </a:t>
            </a:r>
            <a:r>
              <a:rPr lang="de-DE" sz="3800" dirty="0">
                <a:solidFill>
                  <a:srgbClr val="00B0F0"/>
                </a:solidFill>
              </a:rPr>
              <a:t>2 </a:t>
            </a:r>
            <a:r>
              <a:rPr lang="de-DE" sz="3800" dirty="0" err="1">
                <a:solidFill>
                  <a:srgbClr val="00B0F0"/>
                </a:solidFill>
              </a:rPr>
              <a:t>tiles</a:t>
            </a:r>
            <a:r>
              <a:rPr lang="de-DE" sz="3800" dirty="0">
                <a:solidFill>
                  <a:srgbClr val="00B0F0"/>
                </a:solidFill>
              </a:rPr>
              <a:t> </a:t>
            </a:r>
            <a:r>
              <a:rPr lang="de-DE" sz="3800" dirty="0"/>
              <a:t> </a:t>
            </a:r>
            <a:endParaRPr lang="de-DE" sz="3800" dirty="0">
              <a:solidFill>
                <a:srgbClr val="00B0F0"/>
              </a:solidFill>
            </a:endParaRPr>
          </a:p>
          <a:p>
            <a:r>
              <a:rPr lang="de-DE" sz="3800" dirty="0"/>
              <a:t>Pigments (Pig)</a:t>
            </a:r>
            <a:r>
              <a:rPr lang="de-DE" sz="3800" dirty="0">
                <a:solidFill>
                  <a:srgbClr val="00B0F0"/>
                </a:solidFill>
              </a:rPr>
              <a:t> 2 </a:t>
            </a:r>
            <a:r>
              <a:rPr lang="de-DE" sz="3800" dirty="0" err="1">
                <a:solidFill>
                  <a:srgbClr val="00B0F0"/>
                </a:solidFill>
              </a:rPr>
              <a:t>tiles</a:t>
            </a:r>
            <a:r>
              <a:rPr lang="de-DE" sz="3800" dirty="0">
                <a:solidFill>
                  <a:srgbClr val="00B0F0"/>
                </a:solidFill>
              </a:rPr>
              <a:t> </a:t>
            </a:r>
            <a:r>
              <a:rPr lang="de-DE" sz="3800" dirty="0"/>
              <a:t> </a:t>
            </a:r>
          </a:p>
          <a:p>
            <a:r>
              <a:rPr lang="de-DE" sz="3800" dirty="0"/>
              <a:t>Fatty </a:t>
            </a:r>
            <a:r>
              <a:rPr lang="de-DE" sz="3800" dirty="0" err="1"/>
              <a:t>acids</a:t>
            </a:r>
            <a:r>
              <a:rPr lang="de-DE" sz="3800" dirty="0"/>
              <a:t> (FA) </a:t>
            </a:r>
            <a:r>
              <a:rPr lang="de-DE" sz="3800" dirty="0">
                <a:solidFill>
                  <a:srgbClr val="00B0F0"/>
                </a:solidFill>
              </a:rPr>
              <a:t>2 </a:t>
            </a:r>
            <a:r>
              <a:rPr lang="de-DE" sz="3800" dirty="0" err="1">
                <a:solidFill>
                  <a:srgbClr val="00B0F0"/>
                </a:solidFill>
              </a:rPr>
              <a:t>tiles</a:t>
            </a:r>
            <a:r>
              <a:rPr lang="de-DE" sz="3800" dirty="0">
                <a:solidFill>
                  <a:srgbClr val="00B0F0"/>
                </a:solidFill>
              </a:rPr>
              <a:t> </a:t>
            </a:r>
            <a:r>
              <a:rPr lang="de-DE" sz="3800" dirty="0"/>
              <a:t> </a:t>
            </a:r>
          </a:p>
          <a:p>
            <a:r>
              <a:rPr lang="de-DE" sz="3800" dirty="0"/>
              <a:t>Backup 1 (B1) </a:t>
            </a:r>
            <a:r>
              <a:rPr lang="de-DE" sz="3800" dirty="0">
                <a:solidFill>
                  <a:srgbClr val="00B0F0"/>
                </a:solidFill>
              </a:rPr>
              <a:t>2 </a:t>
            </a:r>
            <a:r>
              <a:rPr lang="de-DE" sz="3800" dirty="0" err="1">
                <a:solidFill>
                  <a:srgbClr val="00B0F0"/>
                </a:solidFill>
              </a:rPr>
              <a:t>tiles</a:t>
            </a:r>
            <a:r>
              <a:rPr lang="de-DE" sz="3800" dirty="0">
                <a:solidFill>
                  <a:srgbClr val="00B0F0"/>
                </a:solidFill>
              </a:rPr>
              <a:t> </a:t>
            </a:r>
            <a:r>
              <a:rPr lang="de-DE" sz="3800" dirty="0"/>
              <a:t> </a:t>
            </a:r>
          </a:p>
          <a:p>
            <a:r>
              <a:rPr lang="de-DE" sz="3800" dirty="0"/>
              <a:t>Backup 2 (B2) </a:t>
            </a:r>
            <a:r>
              <a:rPr lang="de-DE" sz="3800" dirty="0">
                <a:solidFill>
                  <a:srgbClr val="00B0F0"/>
                </a:solidFill>
              </a:rPr>
              <a:t>2 </a:t>
            </a:r>
            <a:r>
              <a:rPr lang="de-DE" sz="3800" dirty="0" err="1">
                <a:solidFill>
                  <a:srgbClr val="00B0F0"/>
                </a:solidFill>
              </a:rPr>
              <a:t>tiles</a:t>
            </a:r>
            <a:r>
              <a:rPr lang="de-DE" sz="3800" dirty="0">
                <a:solidFill>
                  <a:srgbClr val="00B0F0"/>
                </a:solidFill>
              </a:rPr>
              <a:t> </a:t>
            </a:r>
            <a:r>
              <a:rPr lang="de-DE" sz="3800" dirty="0"/>
              <a:t> </a:t>
            </a:r>
          </a:p>
          <a:p>
            <a:r>
              <a:rPr lang="de-DE" sz="3800" dirty="0"/>
              <a:t>Backup 3 (B3) </a:t>
            </a:r>
            <a:r>
              <a:rPr lang="de-DE" sz="3800" dirty="0">
                <a:solidFill>
                  <a:srgbClr val="00B0F0"/>
                </a:solidFill>
              </a:rPr>
              <a:t>2 </a:t>
            </a:r>
            <a:r>
              <a:rPr lang="de-DE" sz="3800" dirty="0" err="1">
                <a:solidFill>
                  <a:srgbClr val="00B0F0"/>
                </a:solidFill>
              </a:rPr>
              <a:t>tiles</a:t>
            </a:r>
            <a:r>
              <a:rPr lang="de-DE" sz="3800" dirty="0">
                <a:solidFill>
                  <a:srgbClr val="00B0F0"/>
                </a:solidFill>
              </a:rPr>
              <a:t> </a:t>
            </a:r>
            <a:r>
              <a:rPr lang="de-DE" sz="3800" dirty="0"/>
              <a:t> </a:t>
            </a:r>
          </a:p>
          <a:p>
            <a:r>
              <a:rPr lang="de-DE" sz="3800" dirty="0"/>
              <a:t>Backup 4 (B4) </a:t>
            </a:r>
            <a:r>
              <a:rPr lang="de-DE" sz="3800" dirty="0">
                <a:solidFill>
                  <a:srgbClr val="00B0F0"/>
                </a:solidFill>
              </a:rPr>
              <a:t>2 </a:t>
            </a:r>
            <a:r>
              <a:rPr lang="de-DE" sz="3800" dirty="0" err="1">
                <a:solidFill>
                  <a:srgbClr val="00B0F0"/>
                </a:solidFill>
              </a:rPr>
              <a:t>tiles</a:t>
            </a:r>
            <a:r>
              <a:rPr lang="de-DE" sz="3800" dirty="0">
                <a:solidFill>
                  <a:srgbClr val="00B0F0"/>
                </a:solidFill>
              </a:rPr>
              <a:t> </a:t>
            </a:r>
            <a:r>
              <a:rPr lang="de-DE" sz="3800" dirty="0"/>
              <a:t> </a:t>
            </a:r>
          </a:p>
          <a:p>
            <a:pPr marL="0" indent="0">
              <a:buNone/>
            </a:pPr>
            <a:endParaRPr lang="de-DE" sz="3800" dirty="0">
              <a:solidFill>
                <a:srgbClr val="00B0F0"/>
              </a:solidFill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de-DE" sz="3800" dirty="0" err="1">
                <a:solidFill>
                  <a:srgbClr val="00B0F0"/>
                </a:solidFill>
                <a:sym typeface="Wingdings" panose="05000000000000000000" pitchFamily="2" charset="2"/>
              </a:rPr>
              <a:t>gazed</a:t>
            </a:r>
            <a:r>
              <a:rPr lang="de-DE" sz="3800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sz="3800" dirty="0" err="1">
                <a:solidFill>
                  <a:srgbClr val="00B0F0"/>
                </a:solidFill>
                <a:sym typeface="Wingdings" panose="05000000000000000000" pitchFamily="2" charset="2"/>
              </a:rPr>
              <a:t>area</a:t>
            </a:r>
            <a:r>
              <a:rPr lang="de-DE" sz="3800" dirty="0">
                <a:solidFill>
                  <a:srgbClr val="00B0F0"/>
                </a:solidFill>
                <a:sym typeface="Wingdings" panose="05000000000000000000" pitchFamily="2" charset="2"/>
              </a:rPr>
              <a:t> ausrechnen? Fotos nach 7 Tagen!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sz="3800" dirty="0" err="1">
                <a:solidFill>
                  <a:srgbClr val="00B0F0"/>
                </a:solidFill>
              </a:rPr>
              <a:t>Tile</a:t>
            </a:r>
            <a:r>
              <a:rPr lang="de-DE" sz="3800" dirty="0">
                <a:solidFill>
                  <a:srgbClr val="00B0F0"/>
                </a:solidFill>
              </a:rPr>
              <a:t> nach 7 Tagen samplen entweder für AFDW oder für </a:t>
            </a:r>
            <a:r>
              <a:rPr lang="de-DE" sz="3800" dirty="0" err="1">
                <a:solidFill>
                  <a:srgbClr val="00B0F0"/>
                </a:solidFill>
              </a:rPr>
              <a:t>Metabarcoding</a:t>
            </a:r>
            <a:endParaRPr lang="de-DE" sz="38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de-DE" sz="3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e-DE" sz="3800" dirty="0">
                <a:solidFill>
                  <a:srgbClr val="00B0F0"/>
                </a:solidFill>
                <a:sym typeface="Wingdings" panose="05000000000000000000" pitchFamily="2" charset="2"/>
              </a:rPr>
              <a:t> 16 </a:t>
            </a:r>
            <a:r>
              <a:rPr lang="de-DE" sz="3800" dirty="0" err="1">
                <a:solidFill>
                  <a:srgbClr val="00B0F0"/>
                </a:solidFill>
                <a:sym typeface="Wingdings" panose="05000000000000000000" pitchFamily="2" charset="2"/>
              </a:rPr>
              <a:t>tiles</a:t>
            </a:r>
            <a:r>
              <a:rPr lang="de-DE" sz="3800" dirty="0">
                <a:solidFill>
                  <a:srgbClr val="00B0F0"/>
                </a:solidFill>
                <a:sym typeface="Wingdings" panose="05000000000000000000" pitchFamily="2" charset="2"/>
              </a:rPr>
              <a:t> per </a:t>
            </a:r>
            <a:r>
              <a:rPr lang="de-DE" sz="3800" dirty="0" err="1">
                <a:solidFill>
                  <a:srgbClr val="00B0F0"/>
                </a:solidFill>
                <a:sym typeface="Wingdings" panose="05000000000000000000" pitchFamily="2" charset="2"/>
              </a:rPr>
              <a:t>week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6466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C5AECC-FC87-4B92-AEF8-41F7ECE7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do I </a:t>
            </a:r>
            <a:r>
              <a:rPr lang="de-DE" dirty="0" err="1"/>
              <a:t>need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4E2D3B-252D-4A8E-8DCE-01B016397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9426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de-DE" dirty="0">
              <a:solidFill>
                <a:srgbClr val="FF0000"/>
              </a:solidFill>
            </a:endParaRPr>
          </a:p>
          <a:p>
            <a:r>
              <a:rPr lang="de-DE" dirty="0">
                <a:solidFill>
                  <a:srgbClr val="FF0000"/>
                </a:solidFill>
              </a:rPr>
              <a:t>120 per </a:t>
            </a:r>
            <a:r>
              <a:rPr lang="de-DE" dirty="0" err="1">
                <a:solidFill>
                  <a:srgbClr val="FF0000"/>
                </a:solidFill>
              </a:rPr>
              <a:t>week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for</a:t>
            </a:r>
            <a:r>
              <a:rPr lang="de-DE" dirty="0">
                <a:solidFill>
                  <a:srgbClr val="FF0000"/>
                </a:solidFill>
              </a:rPr>
              <a:t> Fatty </a:t>
            </a:r>
            <a:r>
              <a:rPr lang="de-DE" dirty="0" err="1">
                <a:solidFill>
                  <a:srgbClr val="FF0000"/>
                </a:solidFill>
              </a:rPr>
              <a:t>acid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experiment</a:t>
            </a:r>
            <a:r>
              <a:rPr lang="de-DE" dirty="0">
                <a:solidFill>
                  <a:srgbClr val="FF0000"/>
                </a:solidFill>
              </a:rPr>
              <a:t> + 12 </a:t>
            </a:r>
            <a:r>
              <a:rPr lang="de-DE" dirty="0" err="1">
                <a:solidFill>
                  <a:srgbClr val="FF0000"/>
                </a:solidFill>
              </a:rPr>
              <a:t>for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waterborne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effects</a:t>
            </a:r>
            <a:r>
              <a:rPr lang="de-DE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de-DE" dirty="0">
                <a:solidFill>
                  <a:srgbClr val="FF0000"/>
                </a:solidFill>
              </a:rPr>
              <a:t>= 132 </a:t>
            </a:r>
            <a:r>
              <a:rPr lang="de-DE" dirty="0" err="1">
                <a:solidFill>
                  <a:srgbClr val="FF0000"/>
                </a:solidFill>
              </a:rPr>
              <a:t>beaker</a:t>
            </a:r>
            <a:r>
              <a:rPr lang="de-DE" dirty="0">
                <a:solidFill>
                  <a:srgbClr val="FF0000"/>
                </a:solidFill>
              </a:rPr>
              <a:t> per </a:t>
            </a:r>
            <a:r>
              <a:rPr lang="de-DE" dirty="0" err="1">
                <a:solidFill>
                  <a:srgbClr val="FF0000"/>
                </a:solidFill>
              </a:rPr>
              <a:t>week</a:t>
            </a:r>
            <a:r>
              <a:rPr lang="de-DE" dirty="0">
                <a:solidFill>
                  <a:srgbClr val="FF0000"/>
                </a:solidFill>
              </a:rPr>
              <a:t>, so </a:t>
            </a:r>
            <a:r>
              <a:rPr lang="de-DE" dirty="0" err="1">
                <a:solidFill>
                  <a:srgbClr val="FF0000"/>
                </a:solidFill>
              </a:rPr>
              <a:t>best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take</a:t>
            </a:r>
            <a:r>
              <a:rPr lang="de-DE" dirty="0">
                <a:solidFill>
                  <a:srgbClr val="FF0000"/>
                </a:solidFill>
              </a:rPr>
              <a:t> double = </a:t>
            </a:r>
            <a:r>
              <a:rPr lang="de-DE" sz="4200" dirty="0">
                <a:solidFill>
                  <a:srgbClr val="FF0000"/>
                </a:solidFill>
              </a:rPr>
              <a:t>264 </a:t>
            </a:r>
          </a:p>
          <a:p>
            <a:endParaRPr lang="de-DE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FF0000"/>
              </a:solidFill>
            </a:endParaRPr>
          </a:p>
          <a:p>
            <a:r>
              <a:rPr lang="de-DE" dirty="0" err="1">
                <a:solidFill>
                  <a:srgbClr val="00B050"/>
                </a:solidFill>
              </a:rPr>
              <a:t>Organisms</a:t>
            </a:r>
            <a:r>
              <a:rPr lang="de-DE" dirty="0">
                <a:solidFill>
                  <a:srgbClr val="00B050"/>
                </a:solidFill>
              </a:rPr>
              <a:t>: 120 </a:t>
            </a:r>
            <a:r>
              <a:rPr lang="de-DE" dirty="0" err="1">
                <a:solidFill>
                  <a:srgbClr val="00B050"/>
                </a:solidFill>
              </a:rPr>
              <a:t>for</a:t>
            </a:r>
            <a:r>
              <a:rPr lang="de-DE" dirty="0">
                <a:solidFill>
                  <a:srgbClr val="00B050"/>
                </a:solidFill>
              </a:rPr>
              <a:t> FA + 12 </a:t>
            </a:r>
            <a:r>
              <a:rPr lang="de-DE" dirty="0" err="1">
                <a:solidFill>
                  <a:srgbClr val="00B050"/>
                </a:solidFill>
              </a:rPr>
              <a:t>for</a:t>
            </a:r>
            <a:r>
              <a:rPr lang="de-DE" dirty="0">
                <a:solidFill>
                  <a:srgbClr val="00B050"/>
                </a:solidFill>
              </a:rPr>
              <a:t> WB </a:t>
            </a:r>
            <a:r>
              <a:rPr lang="de-DE" dirty="0" err="1">
                <a:solidFill>
                  <a:srgbClr val="00B050"/>
                </a:solidFill>
              </a:rPr>
              <a:t>effects</a:t>
            </a:r>
            <a:r>
              <a:rPr lang="de-DE" dirty="0">
                <a:solidFill>
                  <a:srgbClr val="00B050"/>
                </a:solidFill>
              </a:rPr>
              <a:t> +  30 </a:t>
            </a:r>
            <a:r>
              <a:rPr lang="de-DE" dirty="0" err="1">
                <a:solidFill>
                  <a:srgbClr val="00B050"/>
                </a:solidFill>
              </a:rPr>
              <a:t>for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baseline</a:t>
            </a:r>
            <a:r>
              <a:rPr lang="de-DE" dirty="0">
                <a:solidFill>
                  <a:srgbClr val="00B050"/>
                </a:solidFill>
              </a:rPr>
              <a:t> (</a:t>
            </a:r>
            <a:r>
              <a:rPr lang="de-DE" dirty="0" err="1">
                <a:solidFill>
                  <a:srgbClr val="00B050"/>
                </a:solidFill>
              </a:rPr>
              <a:t>fatty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acid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content</a:t>
            </a:r>
            <a:r>
              <a:rPr lang="de-DE" dirty="0">
                <a:solidFill>
                  <a:srgbClr val="00B050"/>
                </a:solidFill>
              </a:rPr>
              <a:t> at </a:t>
            </a:r>
            <a:r>
              <a:rPr lang="de-DE" dirty="0" err="1">
                <a:solidFill>
                  <a:srgbClr val="00B050"/>
                </a:solidFill>
              </a:rPr>
              <a:t>beginning</a:t>
            </a:r>
            <a:r>
              <a:rPr lang="de-DE" dirty="0">
                <a:solidFill>
                  <a:srgbClr val="00B050"/>
                </a:solidFill>
              </a:rPr>
              <a:t> and </a:t>
            </a:r>
            <a:r>
              <a:rPr lang="de-DE" dirty="0" err="1">
                <a:solidFill>
                  <a:srgbClr val="00B050"/>
                </a:solidFill>
              </a:rPr>
              <a:t>counting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embryos</a:t>
            </a:r>
            <a:r>
              <a:rPr lang="de-DE" dirty="0">
                <a:solidFill>
                  <a:srgbClr val="00B050"/>
                </a:solidFill>
              </a:rPr>
              <a:t>)</a:t>
            </a:r>
          </a:p>
          <a:p>
            <a:pPr marL="0" indent="0">
              <a:buNone/>
            </a:pPr>
            <a:r>
              <a:rPr lang="de-DE" dirty="0">
                <a:solidFill>
                  <a:srgbClr val="00B050"/>
                </a:solidFill>
              </a:rPr>
              <a:t>= 162 </a:t>
            </a:r>
            <a:r>
              <a:rPr lang="de-DE" dirty="0" err="1">
                <a:solidFill>
                  <a:srgbClr val="00B050"/>
                </a:solidFill>
              </a:rPr>
              <a:t>organisms</a:t>
            </a:r>
            <a:r>
              <a:rPr lang="de-DE" dirty="0">
                <a:solidFill>
                  <a:srgbClr val="00B050"/>
                </a:solidFill>
              </a:rPr>
              <a:t>, but </a:t>
            </a:r>
            <a:r>
              <a:rPr lang="de-DE" dirty="0" err="1">
                <a:solidFill>
                  <a:srgbClr val="00B050"/>
                </a:solidFill>
              </a:rPr>
              <a:t>we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take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as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dirty="0" err="1">
                <a:solidFill>
                  <a:srgbClr val="00B050"/>
                </a:solidFill>
              </a:rPr>
              <a:t>backup</a:t>
            </a:r>
            <a:r>
              <a:rPr lang="de-DE" dirty="0">
                <a:solidFill>
                  <a:srgbClr val="00B050"/>
                </a:solidFill>
              </a:rPr>
              <a:t> </a:t>
            </a:r>
            <a:r>
              <a:rPr lang="de-DE" sz="4200" dirty="0">
                <a:solidFill>
                  <a:srgbClr val="00B050"/>
                </a:solidFill>
              </a:rPr>
              <a:t>180</a:t>
            </a:r>
          </a:p>
          <a:p>
            <a:endParaRPr lang="de-DE" dirty="0">
              <a:solidFill>
                <a:srgbClr val="FF0000"/>
              </a:solidFill>
            </a:endParaRPr>
          </a:p>
          <a:p>
            <a:r>
              <a:rPr lang="de-DE" dirty="0" err="1">
                <a:solidFill>
                  <a:srgbClr val="00B0F0"/>
                </a:solidFill>
              </a:rPr>
              <a:t>Tiles</a:t>
            </a:r>
            <a:r>
              <a:rPr lang="de-DE" dirty="0">
                <a:solidFill>
                  <a:srgbClr val="00B0F0"/>
                </a:solidFill>
              </a:rPr>
              <a:t> </a:t>
            </a:r>
            <a:r>
              <a:rPr lang="de-DE" dirty="0" err="1">
                <a:solidFill>
                  <a:srgbClr val="00B0F0"/>
                </a:solidFill>
              </a:rPr>
              <a:t>every</a:t>
            </a:r>
            <a:r>
              <a:rPr lang="de-DE" dirty="0">
                <a:solidFill>
                  <a:srgbClr val="00B0F0"/>
                </a:solidFill>
              </a:rPr>
              <a:t> </a:t>
            </a:r>
            <a:r>
              <a:rPr lang="de-DE" dirty="0" err="1">
                <a:solidFill>
                  <a:srgbClr val="00B0F0"/>
                </a:solidFill>
              </a:rPr>
              <a:t>week</a:t>
            </a:r>
            <a:r>
              <a:rPr lang="de-DE" dirty="0">
                <a:solidFill>
                  <a:srgbClr val="00B0F0"/>
                </a:solidFill>
              </a:rPr>
              <a:t>: 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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control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tiles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: 30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for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FA + 12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for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WB + 16 (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biofilm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endpoints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) = </a:t>
            </a:r>
            <a:r>
              <a:rPr lang="de-DE" sz="4100" dirty="0">
                <a:solidFill>
                  <a:srgbClr val="00B0F0"/>
                </a:solidFill>
                <a:sym typeface="Wingdings" panose="05000000000000000000" pitchFamily="2" charset="2"/>
              </a:rPr>
              <a:t>58</a:t>
            </a:r>
          </a:p>
          <a:p>
            <a:pPr marL="0" indent="0">
              <a:buNone/>
            </a:pPr>
            <a:r>
              <a:rPr lang="de-DE" dirty="0">
                <a:solidFill>
                  <a:srgbClr val="00B0F0"/>
                </a:solidFill>
              </a:rPr>
              <a:t>		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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chemical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tiles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: 30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for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FA + 4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for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WB + 16 (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biofilm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00B0F0"/>
                </a:solidFill>
                <a:sym typeface="Wingdings" panose="05000000000000000000" pitchFamily="2" charset="2"/>
              </a:rPr>
              <a:t>endpoints</a:t>
            </a:r>
            <a:r>
              <a:rPr lang="de-DE" dirty="0">
                <a:solidFill>
                  <a:srgbClr val="00B0F0"/>
                </a:solidFill>
                <a:sym typeface="Wingdings" panose="05000000000000000000" pitchFamily="2" charset="2"/>
              </a:rPr>
              <a:t>) = </a:t>
            </a:r>
            <a:r>
              <a:rPr lang="de-DE" sz="4100" dirty="0">
                <a:solidFill>
                  <a:srgbClr val="00B0F0"/>
                </a:solidFill>
                <a:sym typeface="Wingdings" panose="05000000000000000000" pitchFamily="2" charset="2"/>
              </a:rPr>
              <a:t>50</a:t>
            </a:r>
          </a:p>
          <a:p>
            <a:pPr marL="0" indent="0">
              <a:buNone/>
            </a:pPr>
            <a:endParaRPr lang="de-DE" dirty="0">
              <a:solidFill>
                <a:srgbClr val="00B0F0"/>
              </a:solidFill>
              <a:sym typeface="Wingdings" panose="05000000000000000000" pitchFamily="2" charset="2"/>
            </a:endParaRPr>
          </a:p>
          <a:p>
            <a:endParaRPr lang="de-DE" dirty="0">
              <a:solidFill>
                <a:srgbClr val="00B0F0"/>
              </a:solidFill>
            </a:endParaRPr>
          </a:p>
          <a:p>
            <a:endParaRPr lang="de-DE" dirty="0">
              <a:solidFill>
                <a:srgbClr val="00B0F0"/>
              </a:solidFill>
            </a:endParaRPr>
          </a:p>
          <a:p>
            <a:endParaRPr lang="de-DE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461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3CBF9-4DE9-62B5-2F79-D6484CB8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Sampling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7A99DE-E5CB-6600-2737-44966C175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1) </a:t>
            </a:r>
            <a:r>
              <a:rPr lang="de-DE" b="1" dirty="0" err="1"/>
              <a:t>Water</a:t>
            </a:r>
            <a:r>
              <a:rPr lang="de-DE" b="1" dirty="0"/>
              <a:t> </a:t>
            </a:r>
            <a:r>
              <a:rPr lang="de-DE" b="1" dirty="0" err="1"/>
              <a:t>samples</a:t>
            </a:r>
            <a:endParaRPr lang="de-DE" b="1" dirty="0"/>
          </a:p>
          <a:p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channels</a:t>
            </a:r>
            <a:r>
              <a:rPr lang="de-DE" dirty="0"/>
              <a:t> after 7 </a:t>
            </a:r>
            <a:r>
              <a:rPr lang="de-DE" dirty="0" err="1"/>
              <a:t>days</a:t>
            </a:r>
            <a:r>
              <a:rPr lang="de-DE" dirty="0"/>
              <a:t> and 1 </a:t>
            </a:r>
            <a:r>
              <a:rPr lang="de-DE" dirty="0" err="1"/>
              <a:t>hour</a:t>
            </a:r>
            <a:r>
              <a:rPr lang="de-DE" dirty="0"/>
              <a:t> after </a:t>
            </a:r>
            <a:r>
              <a:rPr lang="de-DE" dirty="0" err="1"/>
              <a:t>water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(</a:t>
            </a:r>
            <a:r>
              <a:rPr lang="de-DE" dirty="0" err="1"/>
              <a:t>old</a:t>
            </a:r>
            <a:r>
              <a:rPr lang="de-DE" dirty="0"/>
              <a:t> and </a:t>
            </a:r>
            <a:r>
              <a:rPr lang="de-DE" dirty="0" err="1"/>
              <a:t>new</a:t>
            </a:r>
            <a:r>
              <a:rPr lang="de-DE" dirty="0"/>
              <a:t>, </a:t>
            </a:r>
            <a:r>
              <a:rPr lang="de-DE" dirty="0" err="1"/>
              <a:t>respectively</a:t>
            </a:r>
            <a:r>
              <a:rPr lang="de-DE" dirty="0"/>
              <a:t>); </a:t>
            </a:r>
            <a:r>
              <a:rPr lang="de-DE" dirty="0" err="1"/>
              <a:t>Labelling</a:t>
            </a:r>
            <a:r>
              <a:rPr lang="de-DE" dirty="0"/>
              <a:t> „Treatment, Date, Week, </a:t>
            </a:r>
            <a:r>
              <a:rPr lang="de-DE" dirty="0" err="1"/>
              <a:t>old</a:t>
            </a:r>
            <a:r>
              <a:rPr lang="de-DE" dirty="0"/>
              <a:t>/</a:t>
            </a:r>
            <a:r>
              <a:rPr lang="de-DE" dirty="0" err="1"/>
              <a:t>new</a:t>
            </a:r>
            <a:r>
              <a:rPr lang="de-DE" dirty="0"/>
              <a:t>“</a:t>
            </a:r>
          </a:p>
          <a:p>
            <a:r>
              <a:rPr lang="de-DE" dirty="0" err="1"/>
              <a:t>From</a:t>
            </a:r>
            <a:r>
              <a:rPr lang="de-DE" dirty="0"/>
              <a:t> Experiment (</a:t>
            </a:r>
            <a:r>
              <a:rPr lang="de-DE" dirty="0" err="1"/>
              <a:t>Waterborne</a:t>
            </a:r>
            <a:r>
              <a:rPr lang="de-DE" dirty="0"/>
              <a:t> and </a:t>
            </a:r>
            <a:r>
              <a:rPr lang="de-DE" dirty="0" err="1"/>
              <a:t>Fatty</a:t>
            </a:r>
            <a:r>
              <a:rPr lang="de-DE" dirty="0"/>
              <a:t> </a:t>
            </a:r>
            <a:r>
              <a:rPr lang="de-DE" dirty="0" err="1"/>
              <a:t>Acids</a:t>
            </a:r>
            <a:r>
              <a:rPr lang="de-DE" dirty="0"/>
              <a:t>)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insights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potential </a:t>
            </a:r>
            <a:r>
              <a:rPr lang="de-DE" dirty="0" err="1"/>
              <a:t>leaching</a:t>
            </a:r>
            <a:r>
              <a:rPr lang="de-DE" dirty="0"/>
              <a:t> </a:t>
            </a:r>
            <a:r>
              <a:rPr lang="de-DE" dirty="0" err="1"/>
              <a:t>effects</a:t>
            </a:r>
            <a:r>
              <a:rPr lang="de-DE" dirty="0"/>
              <a:t>; </a:t>
            </a:r>
            <a:r>
              <a:rPr lang="de-DE" dirty="0" err="1"/>
              <a:t>Labelling</a:t>
            </a:r>
            <a:r>
              <a:rPr lang="de-DE" dirty="0"/>
              <a:t>: „WB/FA, Date, Treatment, </a:t>
            </a:r>
            <a:r>
              <a:rPr lang="de-DE" dirty="0" err="1"/>
              <a:t>Leaching</a:t>
            </a:r>
            <a:r>
              <a:rPr lang="de-DE" dirty="0"/>
              <a:t>“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4275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3BA17-E446-88C7-69A1-99DB7C4F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403333-F15D-461E-8EAD-261B98256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NLFA </a:t>
            </a:r>
            <a:r>
              <a:rPr lang="de-DE" dirty="0" err="1"/>
              <a:t>analysis</a:t>
            </a:r>
            <a:r>
              <a:rPr lang="de-DE" dirty="0"/>
              <a:t>: Marco </a:t>
            </a:r>
            <a:r>
              <a:rPr lang="de-DE" dirty="0" err="1"/>
              <a:t>used</a:t>
            </a:r>
            <a:r>
              <a:rPr lang="de-DE" dirty="0"/>
              <a:t> 3 </a:t>
            </a:r>
            <a:r>
              <a:rPr lang="de-DE" dirty="0" err="1"/>
              <a:t>snails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treatment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pool and </a:t>
            </a:r>
            <a:r>
              <a:rPr lang="de-DE" dirty="0" err="1"/>
              <a:t>crush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replicate</a:t>
            </a:r>
            <a:r>
              <a:rPr lang="de-DE" dirty="0"/>
              <a:t>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Maybe </a:t>
            </a:r>
            <a:r>
              <a:rPr lang="de-DE" dirty="0" err="1">
                <a:sym typeface="Wingdings" panose="05000000000000000000" pitchFamily="2" charset="2"/>
              </a:rPr>
              <a:t>then</a:t>
            </a:r>
            <a:r>
              <a:rPr lang="de-DE" dirty="0">
                <a:sym typeface="Wingdings" panose="05000000000000000000" pitchFamily="2" charset="2"/>
              </a:rPr>
              <a:t> I </a:t>
            </a:r>
            <a:r>
              <a:rPr lang="de-DE" dirty="0" err="1">
                <a:sym typeface="Wingdings" panose="05000000000000000000" pitchFamily="2" charset="2"/>
              </a:rPr>
              <a:t>use</a:t>
            </a:r>
            <a:r>
              <a:rPr lang="de-DE" dirty="0">
                <a:sym typeface="Wingdings" panose="05000000000000000000" pitchFamily="2" charset="2"/>
              </a:rPr>
              <a:t> 5, </a:t>
            </a:r>
            <a:r>
              <a:rPr lang="de-DE" dirty="0" err="1">
                <a:sym typeface="Wingdings" panose="05000000000000000000" pitchFamily="2" charset="2"/>
              </a:rPr>
              <a:t>as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Potys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smaller</a:t>
            </a:r>
            <a:r>
              <a:rPr lang="de-DE" dirty="0">
                <a:sym typeface="Wingdings" panose="05000000000000000000" pitchFamily="2" charset="2"/>
              </a:rPr>
              <a:t>?</a:t>
            </a:r>
          </a:p>
          <a:p>
            <a:pPr>
              <a:buFont typeface="Wingdings" panose="05000000000000000000" pitchFamily="2" charset="2"/>
              <a:buChar char="à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1562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Breitbild</PresentationFormat>
  <Paragraphs>62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</vt:lpstr>
      <vt:lpstr>1) Fatty acids + feeding rate?</vt:lpstr>
      <vt:lpstr>2) Waterborne effects</vt:lpstr>
      <vt:lpstr>Biofilm endpoints after 14 days of chemical exposure</vt:lpstr>
      <vt:lpstr>How much do I need?</vt:lpstr>
      <vt:lpstr>Sampling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Sophie Oster</dc:creator>
  <cp:lastModifiedBy>Sophie Oster</cp:lastModifiedBy>
  <cp:revision>35</cp:revision>
  <dcterms:created xsi:type="dcterms:W3CDTF">2022-04-27T13:04:16Z</dcterms:created>
  <dcterms:modified xsi:type="dcterms:W3CDTF">2023-03-29T17:01:32Z</dcterms:modified>
</cp:coreProperties>
</file>